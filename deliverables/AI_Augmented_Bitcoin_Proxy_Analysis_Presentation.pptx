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640bbd8a74efb" /><Relationship Type="http://schemas.openxmlformats.org/officeDocument/2006/relationships/extended-properties" Target="/docProps/app.xml" Id="R6781cb1289b7496a" /><Relationship Type="http://schemas.openxmlformats.org/officeDocument/2006/relationships/officeDocument" Target="/ppt/presentation.xml" Id="Rb5b67dd03a6a40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b910a4ad324dfb"/>
  </p:sldMasterIdLst>
  <p:notesMasterIdLst>
    <p:notesMasterId xmlns:r="http://schemas.openxmlformats.org/officeDocument/2006/relationships" r:id="Rbf3f0f3178034ef9"/>
  </p:notesMasterIdLst>
  <p:sldIdLst>
    <p:sldId xmlns:r="http://schemas.openxmlformats.org/officeDocument/2006/relationships" id="256" r:id="R8d6e82258513480d"/>
    <p:sldId xmlns:r="http://schemas.openxmlformats.org/officeDocument/2006/relationships" id="257" r:id="R2821bdc5a75d4171"/>
    <p:sldId xmlns:r="http://schemas.openxmlformats.org/officeDocument/2006/relationships" id="258" r:id="Rfe5f78296d954453"/>
    <p:sldId xmlns:r="http://schemas.openxmlformats.org/officeDocument/2006/relationships" id="259" r:id="Re1709be4bc754634"/>
    <p:sldId xmlns:r="http://schemas.openxmlformats.org/officeDocument/2006/relationships" id="260" r:id="Rbc2e0c87de544f33"/>
    <p:sldId xmlns:r="http://schemas.openxmlformats.org/officeDocument/2006/relationships" id="261" r:id="R3c014b89707946d4"/>
    <p:sldId xmlns:r="http://schemas.openxmlformats.org/officeDocument/2006/relationships" id="262" r:id="Rb97576add9214702"/>
    <p:sldId xmlns:r="http://schemas.openxmlformats.org/officeDocument/2006/relationships" id="263" r:id="R19efb134424f47bf"/>
    <p:sldId xmlns:r="http://schemas.openxmlformats.org/officeDocument/2006/relationships" id="264" r:id="R946f8d9816774bdf"/>
    <p:sldId xmlns:r="http://schemas.openxmlformats.org/officeDocument/2006/relationships" id="265" r:id="R804a1c329bfd4b4a"/>
    <p:sldId xmlns:r="http://schemas.openxmlformats.org/officeDocument/2006/relationships" id="266" r:id="R02be4c66a9b84c8d"/>
    <p:sldId xmlns:r="http://schemas.openxmlformats.org/officeDocument/2006/relationships" id="267" r:id="R6c3d3b03b7cc47f0"/>
    <p:sldId xmlns:r="http://schemas.openxmlformats.org/officeDocument/2006/relationships" id="268" r:id="R7096f0ae78e54bf5"/>
    <p:sldId xmlns:r="http://schemas.openxmlformats.org/officeDocument/2006/relationships" id="269" r:id="Red94dfcd3cd041ca"/>
    <p:sldId xmlns:r="http://schemas.openxmlformats.org/officeDocument/2006/relationships" id="270" r:id="Rb63781fb1ffd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b456575b04e80" /><Relationship Type="http://schemas.openxmlformats.org/officeDocument/2006/relationships/slideMaster" Target="/ppt/slideMasters/slideMaster1.xml" Id="Rceb910a4ad324dfb" /><Relationship Type="http://schemas.openxmlformats.org/officeDocument/2006/relationships/notesMaster" Target="/ppt/notesMasters/notesMaster1.xml" Id="Rbf3f0f3178034ef9" /><Relationship Type="http://schemas.openxmlformats.org/officeDocument/2006/relationships/presProps" Target="/ppt/presProps.xml" Id="Rb567ba5f78a4469a" /><Relationship Type="http://schemas.openxmlformats.org/officeDocument/2006/relationships/tableStyles" Target="/ppt/tableStyles.xml" Id="Rb10dd9d86cba40c0" /><Relationship Type="http://schemas.openxmlformats.org/officeDocument/2006/relationships/slide" Target="/ppt/slides/slide1.xml" Id="R8d6e82258513480d" /><Relationship Type="http://schemas.openxmlformats.org/officeDocument/2006/relationships/slide" Target="/ppt/slides/slide2.xml" Id="R2821bdc5a75d4171" /><Relationship Type="http://schemas.openxmlformats.org/officeDocument/2006/relationships/slide" Target="/ppt/slides/slide3.xml" Id="Rfe5f78296d954453" /><Relationship Type="http://schemas.openxmlformats.org/officeDocument/2006/relationships/slide" Target="/ppt/slides/slide4.xml" Id="Re1709be4bc754634" /><Relationship Type="http://schemas.openxmlformats.org/officeDocument/2006/relationships/slide" Target="/ppt/slides/slide5.xml" Id="Rbc2e0c87de544f33" /><Relationship Type="http://schemas.openxmlformats.org/officeDocument/2006/relationships/slide" Target="/ppt/slides/slide6.xml" Id="R3c014b89707946d4" /><Relationship Type="http://schemas.openxmlformats.org/officeDocument/2006/relationships/slide" Target="/ppt/slides/slide7.xml" Id="Rb97576add9214702" /><Relationship Type="http://schemas.openxmlformats.org/officeDocument/2006/relationships/slide" Target="/ppt/slides/slide8.xml" Id="R19efb134424f47bf" /><Relationship Type="http://schemas.openxmlformats.org/officeDocument/2006/relationships/slide" Target="/ppt/slides/slide9.xml" Id="R946f8d9816774bdf" /><Relationship Type="http://schemas.openxmlformats.org/officeDocument/2006/relationships/slide" Target="/ppt/slides/slide10.xml" Id="R804a1c329bfd4b4a" /><Relationship Type="http://schemas.openxmlformats.org/officeDocument/2006/relationships/slide" Target="/ppt/slides/slide11.xml" Id="R02be4c66a9b84c8d" /><Relationship Type="http://schemas.openxmlformats.org/officeDocument/2006/relationships/slide" Target="/ppt/slides/slide12.xml" Id="R6c3d3b03b7cc47f0" /><Relationship Type="http://schemas.openxmlformats.org/officeDocument/2006/relationships/slide" Target="/ppt/slides/slide13.xml" Id="R7096f0ae78e54bf5" /><Relationship Type="http://schemas.openxmlformats.org/officeDocument/2006/relationships/slide" Target="/ppt/slides/slide14.xml" Id="Red94dfcd3cd041ca" /><Relationship Type="http://schemas.openxmlformats.org/officeDocument/2006/relationships/slide" Target="/ppt/slides/slide15.xml" Id="Rb63781fb1ffd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d3faefc8b8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c040c8aea4f13" /><Relationship Type="http://schemas.openxmlformats.org/officeDocument/2006/relationships/notesMaster" Target="/ppt/notesMasters/notesMaster1.xml" Id="R60a60f135a01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e0ab05f2e64fa3" /><Relationship Type="http://schemas.openxmlformats.org/officeDocument/2006/relationships/notesMaster" Target="/ppt/notesMasters/notesMaster1.xml" Id="Rd0c60ac975db49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c7b01ad0547d4" /><Relationship Type="http://schemas.openxmlformats.org/officeDocument/2006/relationships/notesMaster" Target="/ppt/notesMasters/notesMaster1.xml" Id="R7ee1838f3dc941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3224c122a04fe0" /><Relationship Type="http://schemas.openxmlformats.org/officeDocument/2006/relationships/notesMaster" Target="/ppt/notesMasters/notesMaster1.xml" Id="Rf76e51d92ed848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24a3ae3daa46ee" /><Relationship Type="http://schemas.openxmlformats.org/officeDocument/2006/relationships/notesMaster" Target="/ppt/notesMasters/notesMaster1.xml" Id="Rdf63b25299d6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8ec7051fa4862" /><Relationship Type="http://schemas.openxmlformats.org/officeDocument/2006/relationships/notesMaster" Target="/ppt/notesMasters/notesMaster1.xml" Id="R2b40e33e5cfa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5fc27d2b78406e" /><Relationship Type="http://schemas.openxmlformats.org/officeDocument/2006/relationships/notesMaster" Target="/ppt/notesMasters/notesMaster1.xml" Id="R94569800db36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e15d0b7424c0b" /><Relationship Type="http://schemas.openxmlformats.org/officeDocument/2006/relationships/notesMaster" Target="/ppt/notesMasters/notesMaster1.xml" Id="Rbe4c1b3ced0d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4e8c31ed2e45c6" /><Relationship Type="http://schemas.openxmlformats.org/officeDocument/2006/relationships/notesMaster" Target="/ppt/notesMasters/notesMaster1.xml" Id="Rb5a602a0b0c941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511c17b88c44b7" /><Relationship Type="http://schemas.openxmlformats.org/officeDocument/2006/relationships/notesMaster" Target="/ppt/notesMasters/notesMaster1.xml" Id="Rbfe831cb874a4a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c1a1509c2a47b8" /><Relationship Type="http://schemas.openxmlformats.org/officeDocument/2006/relationships/notesMaster" Target="/ppt/notesMasters/notesMaster1.xml" Id="R87bf7ee269e84f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b86c22ec3b43b1" /><Relationship Type="http://schemas.openxmlformats.org/officeDocument/2006/relationships/notesMaster" Target="/ppt/notesMasters/notesMaster1.xml" Id="R72662c732ad7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19bec001144ea3" /><Relationship Type="http://schemas.openxmlformats.org/officeDocument/2006/relationships/notesMaster" Target="/ppt/notesMasters/notesMaster1.xml" Id="R59e175e3166e4b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6068e01a3b431e" /><Relationship Type="http://schemas.openxmlformats.org/officeDocument/2006/relationships/notesMaster" Target="/ppt/notesMasters/notesMaster1.xml" Id="R76a22c1a57c149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9456a35a874ebe" /><Relationship Type="http://schemas.openxmlformats.org/officeDocument/2006/relationships/notesMaster" Target="/ppt/notesMasters/notesMaster1.xml" Id="Rd04fafa6832e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prior June 2025 project context</a:t>
            </a:r>
          </a:p>
          <a:p xmlns:a="http://schemas.openxmlformats.org/drawingml/2006/main">
            <a:r>
              <a:t>- Bitcoin_Proxy_Stage5_Input.xlsx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prior June 2025 project context</a:t>
            </a:r>
          </a:p>
          <a:p xmlns:a="http://schemas.openxmlformats.org/drawingml/2006/main">
            <a:r>
              <a:t>- AI_Augmented_Bitcoin_Proxy_Analysis_Report.docx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AI_Augmented_Bitcoin_Proxy_Analysis_Report.docx</a:t>
            </a:r>
          </a:p>
          <a:p xmlns:a="http://schemas.openxmlformats.org/drawingml/2006/main">
            <a:r>
              <a:t>- Bitcoin_Proxy_Stage5_Input.xlsx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AI_Augmented_Bitcoin_Proxy_Analysis_Report.docx — Stage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AI_Augmented_Bitcoin_Proxy_Analysis_Report.docx — Stage 2</a:t>
            </a:r>
          </a:p>
          <a:p xmlns:a="http://schemas.openxmlformats.org/drawingml/2006/main">
            <a:r>
              <a:t>- Bitcoin_Proxy_Stage5_Input.xlsx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AI_Augmented_Bitcoin_Proxy_Analysis_Report.docx — Stage 3</a:t>
            </a:r>
          </a:p>
          <a:p xmlns:a="http://schemas.openxmlformats.org/drawingml/2006/main">
            <a:r>
              <a:t>- Bitcoin_Proxy_Stage5_Input.xlsx — KPI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Token Terminal: https://tokenterminal.com/terminal/projects/bitcoin/metrics</a:t>
            </a:r>
          </a:p>
          <a:p xmlns:a="http://schemas.openxmlformats.org/drawingml/2006/main">
            <a:r>
              <a:t>- Mempool: https://mempool.space/</a:t>
            </a:r>
          </a:p>
          <a:p xmlns:a="http://schemas.openxmlformats.org/drawingml/2006/main">
            <a:r>
              <a:t>- Company SEC filings and investor-relations disclosures</a:t>
            </a:r>
          </a:p>
          <a:p xmlns:a="http://schemas.openxmlformats.org/drawingml/2006/main">
            <a:r>
              <a:t>- Bitcoin_Proxy_Stage5_Input.xlsx — Source Refresh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Scenario Model and Checks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- AI_Augmented_Bitcoin_Proxy_Analysis_Report.docx — Stage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Scenario Assumptions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Summary Output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BTC +100% scenario</a:t>
            </a:r>
          </a:p>
          <a:p xmlns:a="http://schemas.openxmlformats.org/drawingml/2006/main">
            <a:r>
              <a:t>- AI_Augmented_Bitcoin_Proxy_Analysis_Report.docx — Technical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BTC +100% per-share outputs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Summary Output</a:t>
            </a:r>
          </a:p>
          <a:p xmlns:a="http://schemas.openxmlformats.org/drawingml/2006/main">
            <a:r>
              <a:t>- AI_Augmented_Bitcoin_Proxy_Analysis_Report.docx — Company Interpretation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Bitcoin_Proxy_Stage5_Input.xlsx — Summary Output</a:t>
            </a:r>
          </a:p>
          <a:p xmlns:a="http://schemas.openxmlformats.org/drawingml/2006/main">
            <a:r>
              <a:t>- AI_Augmented_Bitcoin_Proxy_Analysis_Report.docx — Company Interpretation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AI_Augmented_Bitcoin_Proxy_Analysis_Report.docx — Stage 5 and Portfolio Capabilities</a:t>
            </a:r>
          </a:p>
          <a:p xmlns:a="http://schemas.openxmlformats.org/drawingml/2006/main">
            <a:r>
              <a:t>- Bitcoin_Proxy_Stage5_Input.xlsx</a:t>
            </a:r>
          </a:p>
          <a:p xmlns:a="http://schemas.openxmlformats.org/drawingml/2006/main">
            <a:r>
              <a:t>- Stage4_Model_Rebuild.ipynb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78c41778c41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db1ebf01940db" /><Relationship Type="http://schemas.openxmlformats.org/officeDocument/2006/relationships/slideLayout" Target="/ppt/slideLayouts/slideLayout1.xml" Id="Rb0b101fabb4841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b101fabb4841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3f695c674d90" /><Relationship Type="http://schemas.openxmlformats.org/officeDocument/2006/relationships/notesSlide" Target="/ppt/notesSlides/notesSlide1.xml" Id="Rb8135b0481e4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0d08b9314e61" /><Relationship Type="http://schemas.openxmlformats.org/officeDocument/2006/relationships/notesSlide" Target="/ppt/notesSlides/notesSlide2.xml" Id="R3fd9bd5c5abc4c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09b3dd6734676" /><Relationship Type="http://schemas.openxmlformats.org/officeDocument/2006/relationships/notesSlide" Target="/ppt/notesSlides/notesSlide3.xml" Id="R40381b00bd7f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5a67adb4947ad" /><Relationship Type="http://schemas.openxmlformats.org/officeDocument/2006/relationships/notesSlide" Target="/ppt/notesSlides/notesSlide4.xml" Id="R1a24ad47939e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ab660a634cc0" /><Relationship Type="http://schemas.openxmlformats.org/officeDocument/2006/relationships/notesSlide" Target="/ppt/notesSlides/notesSlide5.xml" Id="R8a89fa9188ae4c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2d4300534a51" /><Relationship Type="http://schemas.openxmlformats.org/officeDocument/2006/relationships/notesSlide" Target="/ppt/notesSlides/notesSlide6.xml" Id="Re60c295c3684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6be5d094406f" /><Relationship Type="http://schemas.openxmlformats.org/officeDocument/2006/relationships/notesSlide" Target="/ppt/notesSlides/notesSlide7.xml" Id="R7afde601988c42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fc34cb244691" /><Relationship Type="http://schemas.openxmlformats.org/officeDocument/2006/relationships/notesSlide" Target="/ppt/notesSlides/notesSlide8.xml" Id="R36f98bd09ca149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b96bdcdf44854" /><Relationship Type="http://schemas.openxmlformats.org/officeDocument/2006/relationships/notesSlide" Target="/ppt/notesSlides/notesSlide9.xml" Id="R7c3c88598bb74b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807d381174bd4" /><Relationship Type="http://schemas.openxmlformats.org/officeDocument/2006/relationships/notesSlide" Target="/ppt/notesSlides/notesSlide10.xml" Id="Rb683c3a99d804b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1600138444b51" /><Relationship Type="http://schemas.openxmlformats.org/officeDocument/2006/relationships/chart" Target="/ppt/slides/charts/chart1.xml" Id="R7a235d1dc2a4444c" /><Relationship Type="http://schemas.openxmlformats.org/officeDocument/2006/relationships/notesSlide" Target="/ppt/notesSlides/notesSlide11.xml" Id="R9263bf89f59343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8a0c8202149f1" /><Relationship Type="http://schemas.openxmlformats.org/officeDocument/2006/relationships/notesSlide" Target="/ppt/notesSlides/notesSlide12.xml" Id="Rbc2af30d314e40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fe9776c054035" /><Relationship Type="http://schemas.openxmlformats.org/officeDocument/2006/relationships/notesSlide" Target="/ppt/notesSlides/notesSlide13.xml" Id="R2c1b5ee41bf449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c0f136f5d4eb1" /><Relationship Type="http://schemas.openxmlformats.org/officeDocument/2006/relationships/notesSlide" Target="/ppt/notesSlides/notesSlide14.xml" Id="R8a07f726019d4b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caf220be14ed8" /><Relationship Type="http://schemas.openxmlformats.org/officeDocument/2006/relationships/notesSlide" Target="/ppt/notesSlides/notesSlide15.xml" Id="R5497fff45a9c4e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Modeled stock return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ABTC</c:v>
              </c:pt>
              <c:pt idx="1">
                <c:v>MSTR</c:v>
              </c:pt>
              <c:pt idx="2">
                <c:v>Metaplanet</c:v>
              </c:pt>
              <c:pt idx="3">
                <c:v>XXI</c:v>
              </c:pt>
              <c:pt idx="4">
                <c:v>MARA</c:v>
              </c:pt>
              <c:pt idx="5">
                <c:v>CLSK</c:v>
              </c:pt>
            </c:strLit>
          </c:cat>
          <c:val>
            <c:numLit>
              <c:formatCode>General</c:formatCode>
              <c:ptCount val="6"/>
              <c:pt idx="0">
                <c:v>246.5</c:v>
              </c:pt>
              <c:pt idx="1">
                <c:v>128.4</c:v>
              </c:pt>
              <c:pt idx="2">
                <c:v>124.9</c:v>
              </c:pt>
              <c:pt idx="3">
                <c:v>93.9</c:v>
              </c:pt>
              <c:pt idx="4">
                <c:v>56.8</c:v>
              </c:pt>
              <c:pt idx="5">
                <c:v>32.9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1164D-DFC1-4662-9E28-2C68996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PORTFOLIO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7A6BC-686E-42F5-AB0D-D1360021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83B56"/>
                </a:solidFill>
              </a:defRPr>
            </a:pPr>
            <a:r>
              <a:rPr sz="4500" b="1">
                <a:solidFill>
                  <a:srgbClr val="183B56"/>
                </a:solidFill>
              </a:rPr>
              <a:t>Bitcoin vs. Bitcoin</a:t>
            </a:r>
          </a:p>
          <a:p xmlns:a="http://schemas.openxmlformats.org/drawingml/2006/main">
            <a:pPr algn="l">
              <a:defRPr sz="4500" b="1">
                <a:solidFill>
                  <a:srgbClr val="183B56"/>
                </a:solidFill>
              </a:defRPr>
            </a:pPr>
            <a:r>
              <a:rPr sz="4500" b="1">
                <a:solidFill>
                  <a:srgbClr val="183B56"/>
                </a:solidFill>
              </a:rPr>
              <a:t>Proxy Stocks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7414-CCB1-4A6C-8389-B7E30E69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8DFF"/>
                </a:solidFill>
              </a:defRPr>
            </a:pPr>
            <a:r>
              <a:rPr sz="2100" b="0">
                <a:solidFill>
                  <a:srgbClr val="3D8DFF"/>
                </a:solidFill>
              </a:rPr>
              <a:t>An AI-augmented investment analytics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6334F-5ADC-4001-9C86-8FF3AD5E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31A18-A6FE-4B64-8AE4-919DAC9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978"/>
                </a:solidFill>
              </a:defRPr>
            </a:pPr>
            <a:r>
              <a:rPr sz="1650" b="0">
                <a:solidFill>
                  <a:srgbClr val="5C6978"/>
                </a:solidFill>
              </a:rPr>
              <a:t>A June 2025 analysis rebuilt through a ChatGPT-centered five-stage decision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1F36-372A-4B43-8FAA-0C0C2885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Six public companies  |  Three BTC scenarios  |  One per-share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9B562-9966-4F1E-B5F0-44295CE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8"/>
                </a:solidFill>
              </a:defRPr>
            </a:pPr>
            <a:r>
              <a:rPr sz="1125" b="0">
                <a:solidFill>
                  <a:srgbClr val="5C6978"/>
                </a:solidFill>
              </a:rPr>
              <a:t>Source data through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B73B0-4538-4BB8-A44E-A6CC86D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3909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B605B-5EED-406F-AF0F-AF56FED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4C130-19A7-4910-8189-FDA6AA88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Why rebuild the project with AI?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DCD9D-D406-4CCF-B582-F0B1171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2E01E-06E2-432C-A331-FE33869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The objective was not to replace analysis with prompts. It was to test whether AI could make the work more decision-led, auditable, and communicable.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04E05-D66D-4074-989D-4E82835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EARLIER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BEB68-E3C3-4877-8C75-D7E3872B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AI-AUGMENTED REDEVELOPMENT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16480-FAD2-491A-A199-C1F2408D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Code-led exploration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12E60-1475-40C3-9385-99376665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Decision-led five-stage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41DD9-0D66-4EF0-BB1D-4836BC5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45309-B9DD-4848-9100-E4B7F9A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Company screening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65308-2148-48C2-93F7-A8DFF11A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Explicit benchmark and KPI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D4D7-9023-4B3B-AB58-822E203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7B5AA-6283-42B3-9710-9CD97BE4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Manual analytical assembly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D5B78-1037-4413-9694-A8FF279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Source normalization + auditable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6837E-9F42-46D5-9B73-1A78DC3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93DD4-65AB-4177-B631-979B085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Static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3FF3A-64B3-4DDB-B6A0-C175B5F1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Linked workbook, notebook, report, and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0CBF9-9A2F-4121-8241-5308A59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F95DB-ED11-483D-9F20-B6A7ED55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B56"/>
                </a:solidFill>
              </a:defRPr>
            </a:pPr>
            <a:r>
              <a:rPr sz="1575" b="1">
                <a:solidFill>
                  <a:srgbClr val="183B56"/>
                </a:solidFill>
              </a:rPr>
              <a:t>Employer signal: AI extended execution capacity while assumptions, calculations, and judgment remained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283BD-FB33-4BD4-BFEF-E2EFDD8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C51CC-8437-4CC7-AD6F-3B9D38E4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6875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B74B5D-B599-407F-80A5-24221E68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E8D4-16A7-4AF2-8032-72527BD9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The five-stage analytical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408B-598E-4C9D-9607-8D82915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931A8-AFF9-4914-9E48-55F655FD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978"/>
                </a:solidFill>
              </a:defRPr>
            </a:pPr>
            <a:r>
              <a:rPr sz="1575" b="0">
                <a:solidFill>
                  <a:srgbClr val="5C6978"/>
                </a:solidFill>
              </a:rPr>
              <a:t>Each stage has a distinct decision job and a visible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EBB4-1186-46C8-9585-ED8034E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67A1-127E-42FB-B353-EE0A2C59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7F81D-0D29-45F5-A910-7A24B4B8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Three alternatives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FD74B-F805-456A-8A36-8D1ECC98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BTC • proxy • reject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D0847-17B3-424E-AF89-1CFB3B6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71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7BA23-7820-44C6-AD4E-51D891F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38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73F48-C52C-4748-81EE-EF5C4E7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30608-2F79-48FF-A366-FE43C870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24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One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CB758-F94D-4A54-AB06-8B1E378A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Beat BTC per share?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1DF65-B391-4DE8-961C-3E28B0A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BE67C-9F88-4D04-AD24-9F20E95E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310BD-229E-4221-B025-972A59C2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E416B-8F1A-4D79-BEFA-B809668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Evidence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C337D-9CFF-45B0-BE85-F6DE17B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Hypotheses • KPIs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D9648-C73E-4450-9DD1-B170509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0260A-ADE9-4F0E-B4E2-2AA81F63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B6D1D-4C37-49F7-9C42-C9D4C5A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EXECUTE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2D538-35EF-4FF9-9E28-1B52EA1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Auditable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94714-E29C-4028-AE03-4B552AC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18 scenario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BCCD4-F725-4446-B7AF-73D65005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2CB1F-AF26-4F2D-B562-A41271A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B56"/>
                </a:solidFill>
              </a:defRPr>
            </a:pPr>
            <a:r>
              <a:rPr sz="3600" b="1">
                <a:solidFill>
                  <a:srgbClr val="183B56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6A43A-8368-4A5E-9413-A88851B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FINISH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35196-C19B-4C71-B129-EEA3B871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F4FC3-FABE-4CB6-ADA4-60DFB1E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71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Rank • decide • monitor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2FC07-BC51-475E-9561-36A4257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5B8D5-B835-4FE8-A10F-A5B68FB5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Controlling principle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9833E-DF66-4603-9317-62D83C1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A proxy must outperform direct Bitcoin ownership after dilution, senior claims, operating costs, capital requirements, and execution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CE51D-8A13-430A-859A-D866AE17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017105-A0F1-4B90-AC90-1B764A7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926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64987-1883-4E61-B570-CF4B39C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99C19-172B-41AE-9B08-67B808E6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Stage 1 — Start with three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97E27-FC69-493E-B353-84CB9EE1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80BB9-B9BF-4745-8B7E-957D55B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978"/>
                </a:solidFill>
              </a:defRPr>
            </a:pPr>
            <a:r>
              <a:rPr sz="1575" b="0">
                <a:solidFill>
                  <a:srgbClr val="5C6978"/>
                </a:solidFill>
              </a:rPr>
              <a:t>The analysis begins with mutually exclusive choices—not with a company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B5A0F-7B9D-43C3-A281-68B25380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76600" cy="34290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CF585-989D-4A62-B03D-F8B10BB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56"/>
                </a:solidFill>
              </a:defRPr>
            </a:pPr>
            <a:r>
              <a:rPr sz="3300" b="1">
                <a:solidFill>
                  <a:srgbClr val="183B56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A2E1-A010-4C8C-AFFA-1D5ECD6B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978"/>
                </a:solidFill>
              </a:defRPr>
            </a:pPr>
            <a:r>
              <a:rPr sz="1200" b="1">
                <a:solidFill>
                  <a:srgbClr val="5C6978"/>
                </a:solidFill>
              </a:rPr>
              <a:t>OWN BITCOIN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76465-9A54-4493-8392-1C5B8E6D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Pure BTC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3110B-71BD-446C-BB27-A303C05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No dilution, management, operating, financing, or capital-allocation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A84B1-5F82-438C-BD2F-45949D1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43125"/>
            <a:ext cx="3276600" cy="34290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2AA98-6040-4EE0-BE85-CE77FD7C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1A628-15AE-45CA-A5A4-3EC58BC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978"/>
                </a:solidFill>
              </a:defRPr>
            </a:pPr>
            <a:r>
              <a:rPr sz="1200" b="1">
                <a:solidFill>
                  <a:srgbClr val="5C6978"/>
                </a:solidFill>
              </a:rPr>
              <a:t>OWN A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EAFC3-31F1-4F32-9C3A-31E7509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Seek excess return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7C942-4746-4112-8F27-541DBD2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Accept company risk only for leverage, BTC-per-share accretion, operating value, or rerating.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8EA3A-45BC-437A-A35E-A1DD3360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76600" cy="34290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C674-CE71-4449-8FD3-173A277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56"/>
                </a:solidFill>
              </a:defRPr>
            </a:pPr>
            <a:r>
              <a:rPr sz="3300" b="1">
                <a:solidFill>
                  <a:srgbClr val="183B56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FCCE8-09CD-4896-AEE3-6E78EF7F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978"/>
                </a:solidFill>
              </a:defRPr>
            </a:pPr>
            <a:r>
              <a:rPr sz="1200" b="1">
                <a:solidFill>
                  <a:srgbClr val="5C6978"/>
                </a:solidFill>
              </a:rPr>
              <a:t>REJECT PROXIES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49246-24B3-437B-9136-F3DE7C3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Keep the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4D587-57B1-4EA5-8978-FA9EE396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Conclude that no stock offers enough expected excess return for the additional risks.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AD1D4-B36B-4C67-B78E-745C2DA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AEC85-DD43-482F-A8BA-55A1F0E5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9131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BDE50-C1FF-4C46-90C7-C7015A0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7B468-BE40-4A5C-A6AC-6AF28EA3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Stage 2 — Frame one benchmarked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31A3-78CE-4484-B1AB-FF340D4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1F86B-FFB3-45B5-88C0-1D176F7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PRIMARY ANALYTICAL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40FD2-D3AF-4E18-91EA-BE464C0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B56"/>
                </a:solidFill>
              </a:defRPr>
            </a:pPr>
            <a:r>
              <a:rPr sz="2850" b="1">
                <a:solidFill>
                  <a:srgbClr val="183B56"/>
                </a:solidFill>
              </a:rPr>
              <a:t>Can a publicly traded Bitcoin proxy create greater value per diluted common share than owning BTC directly?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FA18A-336D-4366-9055-0731A881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94C40-706C-4989-B478-89CAAC6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1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85E78-3F46-460E-845D-56F7DA02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Unit of analysis: the economic outcome for one diluted common share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FDEAA-98F5-4EFB-98C8-B83EB7A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95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56"/>
                </a:solidFill>
              </a:defRPr>
            </a:pPr>
            <a:r>
              <a:rPr sz="3300" b="1">
                <a:solidFill>
                  <a:srgbClr val="183B56"/>
                </a:solidFill>
              </a:rPr>
              <a:t>BTC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CE509-3D5F-4A4F-B206-B510D44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Controlling benchmark—not a passive comparison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476B7-0C65-457F-B7D9-0B655D21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60B"/>
                </a:solidFill>
              </a:defRPr>
            </a:pPr>
            <a:r>
              <a:rPr sz="3300" b="1">
                <a:solidFill>
                  <a:srgbClr val="B8860B"/>
                </a:solidFill>
              </a:rPr>
              <a:t>+ excess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42D27-B392-44B3-9F37-814B3A3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Company risk is justified only when modeled return exceeds BTC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0822E-6B81-4BA2-8C69-449A23E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44C53-F3B3-485D-936E-138E8E9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304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B9654-FAB3-4271-BAE6-BEAF023D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STAGE 3  •  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4A628-5878-4688-8FA3-CC68149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Evidence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A2DC-4485-4C22-B409-93A99AD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83DFA-387D-4B59-AAA5-6154C3A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PRIMARY KPI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7A7D8-5D4B-4410-81E9-3BBFFBB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6"/>
                </a:solidFill>
              </a:defRPr>
            </a:pPr>
            <a:r>
              <a:rPr sz="2250" b="1">
                <a:solidFill>
                  <a:srgbClr val="183B56"/>
                </a:solidFill>
              </a:rPr>
              <a:t>Modeled excess return vs. BTC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1BC9B-CCB3-43F9-B1FE-448320F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Proxy stock return − Bitcoin return under the same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DAE7-E0C8-4171-BB94-F3F0C94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SECONDARY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27B6A-F594-4170-A512-D3042D45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6"/>
                </a:solidFill>
              </a:defRPr>
            </a:pPr>
            <a:r>
              <a:rPr sz="2250" b="1">
                <a:solidFill>
                  <a:srgbClr val="183B56"/>
                </a:solidFill>
              </a:rPr>
              <a:t>Probability of beating BTC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BC887-C1FA-4F2C-B8F8-274072E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A structured band based on dilution, execution, capital structure, operations, and 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D25E7-CC6D-4654-81E7-48FB697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9D46-46D1-474C-AAC9-1EF64BCA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HYPOTHESES 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CBBAF-2984-4593-9367-E1D5F1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66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Treasury: net BTC per diluted share matters more than total BTC growth.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Mining: margin expansion must exceed difficulty, energy, capex, and dilution growth.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NAV: discount closure can create convexity, but is less reliable than per-share value creation.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Capital allocation: high BTC correlation can coexist with poor shareholder economics.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6AB47-1AF8-4835-BDB6-8E7E683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5E139-AB2F-4EC8-90F5-32C389C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549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B8FE0-94F9-47B2-A4D2-08377E4A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C9587-2D8E-4146-BE8A-A326D8D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Evidence architecture: use each source for what it does best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3B19-3B9A-41F9-A055-8839CBB1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853FE-2732-4C60-A534-F245437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978"/>
                </a:solidFill>
              </a:defRPr>
            </a:pPr>
            <a:r>
              <a:rPr sz="1575" b="0">
                <a:solidFill>
                  <a:srgbClr val="5C6978"/>
                </a:solidFill>
              </a:rPr>
              <a:t>Market context and company capital structures require different evidence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BFF1-28F8-4F95-BB32-B0E42755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8A470-C51E-420F-AD9D-1C1ADD3F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TOKEN TERMINAL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26EA2-1802-46FE-81C2-58067194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BTC anchor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market context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fee mix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7A3E6-8FD1-4A0A-A692-0BF1F58D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CBC9E-AA0E-42B3-BA72-0231BD31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NETWORK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83913-6B6B-4611-A8AE-D5A16871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difficulty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hashrate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revenue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7AD44-2A31-451D-A4A4-A7893048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BA104-E702-4998-A868-3EC02A6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SEC + 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56342-14A4-49C2-BF32-445D431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shares • debt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preferreds • ATM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mining • HPC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DDA39-1531-4AD7-8303-6193E7F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390C8-0B1A-4900-A43E-F9D15054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PRIOR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5CD14-FF49-4055-97D6-3A23C44E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earlier targets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risk hypotheses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challenge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C8FEA-0ABA-434C-9988-63AF70D0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56"/>
                </a:solidFill>
              </a:defRPr>
            </a:pPr>
            <a:r>
              <a:rPr sz="2100" b="1">
                <a:solidFill>
                  <a:srgbClr val="183B56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13A6D-A70E-490D-93D2-84E8871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MODEL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81F5C-7C6A-4B48-9D0A-949378A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normalized inputs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18 scenario rows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checks + notebook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14C17-402F-4559-A894-D602AD94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14765-BAA7-4FA2-AC2D-09EFC4E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Normalization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F02DD-D7B9-4D8B-8DD5-C335E43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8157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Keep sourced facts separate from forecast assumptions; carry missing fields as model risks instead of silently setting them to zero.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24559-414E-4EE9-B6EA-3837AEA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A1969-08AE-4C9F-878F-C91FEC7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99113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78CAE-8B64-4F94-A95C-2ED0E5B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364C2-010C-4F26-93B0-A81D4615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Stage 4 — Rebuild around company-specific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004A6-2B20-44DF-BA14-3509909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EAB5-368B-41CC-A57F-B64EBF6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TREASURY COMPANIES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1548D-5F61-4A7D-B82B-D81523DF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BTC + liquid assets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− debt, preferreds, convertibles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± NAV premium / discount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÷ ending diluted shares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74D49-B642-494A-B52E-31F597C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860B"/>
                </a:solidFill>
              </a:defRPr>
            </a:pPr>
            <a:r>
              <a:rPr sz="975" b="1">
                <a:solidFill>
                  <a:srgbClr val="B8860B"/>
                </a:solidFill>
              </a:rPr>
              <a:t>BITCOIN MINERS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8DB4B-55DB-43F7-88EA-56D8B0E3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Treasury + mining + HPC value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− debt, leases, equipment, financing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− capex and operating burden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÷ ending diluted shares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CABD4-4775-470C-A7A2-E3ECCC2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03AB-B64D-4F7A-BD43-E5425001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8D308-32D6-4C94-BAB5-DB53BD6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company-scenario 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4B42A-30C0-4891-8B00-82E97B15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29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56"/>
                </a:solidFill>
              </a:defRPr>
            </a:pPr>
            <a:r>
              <a:rPr sz="3300" b="1">
                <a:solidFill>
                  <a:srgbClr val="183B56"/>
                </a:solidFill>
              </a:rPr>
              <a:t>12 /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60B2-ED40-4B39-8B5F-02C0CEF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00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visible execution assertions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C1FCF-0D41-4FD7-828A-768FBC9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29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60B"/>
                </a:solidFill>
              </a:defRPr>
            </a:pPr>
            <a:r>
              <a:rPr sz="3300" b="1">
                <a:solidFill>
                  <a:srgbClr val="B8860B"/>
                </a:solidFill>
              </a:rPr>
              <a:t>6 /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E2D54-E709-4830-8D92-934F919F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00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independent notebook checks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0CA6-D093-41C3-B88F-38CAA23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384B4-F6F0-4DC4-A167-90EF0568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2856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71414-0096-4FD0-96AF-16688C4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5CD80-9908-47C2-B469-8FF59567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Three Bitcoin outcomes; one conservative mining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A3E51-E0E9-451E-8B13-99C4BCC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B5C99-E7EF-4EEF-B78D-40B706C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978"/>
                </a:solidFill>
              </a:defRPr>
            </a:pPr>
            <a:r>
              <a:rPr sz="1650" b="0">
                <a:solidFill>
                  <a:srgbClr val="5C6978"/>
                </a:solidFill>
              </a:rPr>
              <a:t>Anchor BTC: $78,511.23  |  Horizon: 24 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2857E-8DD0-457D-A761-6E5BD98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6"/>
                </a:solidFill>
              </a:defRPr>
            </a:pPr>
            <a:r>
              <a:rPr sz="1800" b="1">
                <a:solidFill>
                  <a:srgbClr val="183B56"/>
                </a:solidFill>
              </a:rPr>
              <a:t>BTC +50%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A59F8-3BAD-4BEF-B7C1-DFEBBD2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$117,766.85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64DF3-6DFA-4033-8647-3BA2D409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60B"/>
                </a:solidFill>
              </a:defRPr>
            </a:pPr>
            <a:r>
              <a:rPr sz="1425" b="1">
                <a:solidFill>
                  <a:srgbClr val="B8860B"/>
                </a:solidFill>
              </a:rPr>
              <a:t>+25% difficulty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5672B-E311-482A-A472-05E3B9C0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BTC +100%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AFCC1-6695-49AB-9F2E-FF11C11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$157,022.46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4472B-A8E1-422B-94D1-E7C7DE86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60B"/>
                </a:solidFill>
              </a:defRPr>
            </a:pPr>
            <a:r>
              <a:rPr sz="1425" b="1">
                <a:solidFill>
                  <a:srgbClr val="B8860B"/>
                </a:solidFill>
              </a:rPr>
              <a:t>+45% difficulty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1216E-B291-413F-B723-FD4D231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6"/>
                </a:solidFill>
              </a:defRPr>
            </a:pPr>
            <a:r>
              <a:rPr sz="1800" b="1">
                <a:solidFill>
                  <a:srgbClr val="183B56"/>
                </a:solidFill>
              </a:rPr>
              <a:t>BTC +200%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FC40-A241-4D4C-B3B3-2C116BE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$235,533.69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F2FFA-DBB1-4885-9D72-7B3A4D4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860B"/>
                </a:solidFill>
              </a:defRPr>
            </a:pPr>
            <a:r>
              <a:rPr sz="1425" b="1">
                <a:solidFill>
                  <a:srgbClr val="B8860B"/>
                </a:solidFill>
              </a:rPr>
              <a:t>+80% difficulty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8534A-E982-4F72-845A-580C1399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F40BD-1934-49FB-BE15-C6BCC9FD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60B"/>
                </a:solidFill>
              </a:defRPr>
            </a:pPr>
            <a:r>
              <a:rPr sz="1200" b="1">
                <a:solidFill>
                  <a:srgbClr val="B8860B"/>
                </a:solidFill>
              </a:rPr>
              <a:t>Conservative mining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CFB46-6042-48BB-9666-EA03FFD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291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Miner profitability does not scale one-for-one with BTC; rising price attracts hashrate and capital, so difficulty, cost, capex, and dilution also increase.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D5B54-631C-45EF-8076-64B0BD9A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300D4-3805-409E-9662-ED03CC49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4285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2D533-99ED-4F01-8622-43AB1D5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2D3B9-65BE-4CBB-B2E8-8AF882E4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Only half the proxy universe beats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A9ED7-A0F8-4E19-A67D-D9C6C6A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4B3DA-3786-4BF7-AB9C-CB0CA3F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Absolute distance from the BTC benchmark — blue outperformance; red underperformance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91ED6-4F6D-48A5-BAB8-F00D51F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90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D439B-D4C0-41B3-9DD8-03F545B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4A4A"/>
                </a:solidFill>
              </a:defRPr>
            </a:pPr>
            <a:r>
              <a:rPr sz="975" b="1">
                <a:solidFill>
                  <a:srgbClr val="9B4A4A"/>
                </a:solidFill>
              </a:rPr>
              <a:t>UNDERPERFORM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568AE-FA69-4425-A25D-9A44DDB2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OUTPERFORM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FBDCD-B280-405A-9C51-B36D409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MSTR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EF619-20DC-4E25-A156-9C981B2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54102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AA4E7-AB87-4A12-A76C-CDA7C7A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314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+28.4 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0D47-307F-4188-84A9-3FD7205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Metaplanet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DA40F-E7B8-4CF5-B15F-A0C55D6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47434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47507-D21B-495C-A99F-E18B3A0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095" y="2809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+24.9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4DF4F-DCA7-4200-A37B-D983D01B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XXI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EFF83-6CA6-4CDC-A0F0-5327FCA7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295" y="3324225"/>
            <a:ext cx="11620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97D97-277A-4FA4-8098-4C871258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95" y="3305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B4A4A"/>
                </a:solidFill>
              </a:defRPr>
            </a:pPr>
            <a:r>
              <a:rPr sz="1200" b="1">
                <a:solidFill>
                  <a:srgbClr val="9B4A4A"/>
                </a:solidFill>
              </a:rPr>
              <a:t>-6.1 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C447B-A5AB-4C62-B8F4-9D89D9F3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ABTC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EBA09-C8B5-430B-8161-E06FD16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2790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172D9-15EA-4351-A618-03443A5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00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+146.5 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C0008-E235-4E23-ABF0-4530A48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CLSK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80106-2ADB-4E5D-8309-98D97713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45" y="4314825"/>
            <a:ext cx="127825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864A4-B703-4446-90DE-37EA96C5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245" y="42957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B4A4A"/>
                </a:solidFill>
              </a:defRPr>
            </a:pPr>
            <a:r>
              <a:rPr sz="1200" b="1">
                <a:solidFill>
                  <a:srgbClr val="9B4A4A"/>
                </a:solidFill>
              </a:rPr>
              <a:t>-67.1 pts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D6E63-921E-4D25-871B-EC01181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MARA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6AF43-D35B-442E-ACA5-C329EF9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810125"/>
            <a:ext cx="8229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6E936-9039-4044-A7B1-1896218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40" y="47910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B4A4A"/>
                </a:solidFill>
              </a:defRPr>
            </a:pPr>
            <a:r>
              <a:rPr sz="1200" b="1">
                <a:solidFill>
                  <a:srgbClr val="9B4A4A"/>
                </a:solidFill>
              </a:rPr>
              <a:t>-43.2 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EA2C6-0DF9-4B73-87BF-48FFD07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Positive = company risk is rewarded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30D0F-7560-4C50-89F9-46791B9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57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MSTR • Metaplanet • ABTC beat BTC in all three scenarios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BD5A4-774E-4BFC-97A7-A7CD4B3B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1C305-D844-47E5-A3B0-37ECDE20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30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98C01-DF1B-4033-81D8-8DF6B1DD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EFD45-6F9D-4648-B213-E884621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BTC +100%: three stocks clear the 100%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DC44A-C161-4B62-ACE8-FF65F929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7524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235d1dc2a4444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176FD-5149-4BAC-9E0F-3B6A0FCF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DECISION 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5DB0A-0480-4F9D-829A-7626759B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246.5%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649EB-FA2E-49BE-B6C9-4F68FD0A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ABTC — maximum modeled upside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FB6BE-C1EF-4950-935B-185025CD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56"/>
                </a:solidFill>
              </a:defRPr>
            </a:pPr>
            <a:r>
              <a:rPr sz="3300" b="1">
                <a:solidFill>
                  <a:srgbClr val="183B56"/>
                </a:solidFill>
              </a:rPr>
              <a:t>128.4%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39BE2-3BE8-4E23-8364-3850A6C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MSTR — best overall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F456E-0B71-490E-9466-9464AD4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60B"/>
                </a:solidFill>
              </a:defRPr>
            </a:pPr>
            <a:r>
              <a:rPr sz="3300" b="1">
                <a:solidFill>
                  <a:srgbClr val="B8860B"/>
                </a:solidFill>
              </a:rPr>
              <a:t>124.9%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CD286-D30A-45FE-86E7-D0DF9729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Metaplanet — strongest middle ground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01395-202C-4039-A950-A357DC2E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60B"/>
                </a:solidFill>
              </a:defRPr>
            </a:pPr>
            <a:r>
              <a:rPr sz="1350" b="1">
                <a:solidFill>
                  <a:srgbClr val="B8860B"/>
                </a:solidFill>
              </a:rPr>
              <a:t>BTC benchmark = 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7D765-2697-4EA2-9089-4990F7B8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B513-00AD-4367-BCD3-F081ED99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1055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1DD7E-61F7-49D4-9699-E3A8FF3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48C94-30F9-4BC8-B49B-21B273AE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Per-share exposure reveals the transmission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5AE40-0677-428C-BCB0-0A37D257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061DF-F95D-4D1B-8982-C17E401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Magnitude of change in sats per diluted share — blue accretion; red dilution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42158-5F5A-465F-B245-C62E550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7C69E-AD3E-4994-8ABD-ADE3E528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66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4A4A"/>
                </a:solidFill>
              </a:defRPr>
            </a:pPr>
            <a:r>
              <a:rPr sz="975" b="1">
                <a:solidFill>
                  <a:srgbClr val="9B4A4A"/>
                </a:solidFill>
              </a:rPr>
              <a:t>DILUTION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EF2BE-F7F3-4B2E-9A60-53F93A0F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66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ACCRETION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279D5-2D16-4B4E-A5DC-490F0BE4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MSTR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EA342-2358-4203-B3BC-5393EDF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29" y="2238375"/>
            <a:ext cx="170021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7DBCE-E580-47CC-9267-C5EDB20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9" y="22098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B4A4A"/>
                </a:solidFill>
              </a:defRPr>
            </a:pPr>
            <a:r>
              <a:rPr sz="1125" b="1">
                <a:solidFill>
                  <a:srgbClr val="9B4A4A"/>
                </a:solidFill>
              </a:rPr>
              <a:t>-1.1%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004E7-FCAB-43CD-906F-3577265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Metaplanet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BC693-C05A-4EB7-8D47-2A19D41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191" y="2714625"/>
            <a:ext cx="89059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021B5-717D-47DD-9AAA-1299AE66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41" y="26860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B4A4A"/>
                </a:solidFill>
              </a:defRPr>
            </a:pPr>
            <a:r>
              <a:rPr sz="1125" b="1">
                <a:solidFill>
                  <a:srgbClr val="9B4A4A"/>
                </a:solidFill>
              </a:rPr>
              <a:t>-0.6%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338F4-82B4-4B43-913F-51B39BD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XXI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FA36B-D7CB-469C-B52B-4CFF815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457" y="3190875"/>
            <a:ext cx="139579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89119-0761-49F6-8CBB-77E9D0C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407" y="31623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B4A4A"/>
                </a:solidFill>
              </a:defRPr>
            </a:pPr>
            <a:r>
              <a:rPr sz="1125" b="1">
                <a:solidFill>
                  <a:srgbClr val="9B4A4A"/>
                </a:solidFill>
              </a:rPr>
              <a:t>-8.6%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FD330-2AF1-4BAC-B272-8373965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ABTC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A72BF-306A-4391-9AF7-CED6D15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188966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CF7B6-CF8C-46EE-8997-DBBEBDD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115" y="3638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+11.7%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3AA37-CE06-4066-9B39-6F6CB38B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CLSK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C0BCC-83FE-4930-848D-B4B684BB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4420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23528-2CE7-4B5E-8043-B6BFD70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505" y="4114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+2.7%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4DE8F-3482-4E23-8B69-BB8AE1F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MARA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ABD73-CF7F-42E1-9A84-155008E1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153" y="4619625"/>
            <a:ext cx="268309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B3322-39AA-46E4-B9DB-A961698E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03" y="45910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B4A4A"/>
                </a:solidFill>
              </a:defRPr>
            </a:pPr>
            <a:r>
              <a:rPr sz="1125" b="1">
                <a:solidFill>
                  <a:srgbClr val="9B4A4A"/>
                </a:solidFill>
              </a:rPr>
              <a:t>-16.6%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0B158-2C4D-4AB7-BCEA-DFBB9EC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INTERPRETATION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A5DC0-A1FA-4402-9A96-DA40650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+11.7%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D201D-9F6B-4869-BFD3-B903659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ABTC combines the strongest modeled stock upside with material BTC-per-share growth.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07999-375B-43DF-8964-559B5B0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MSTR and Metaplanet still outperform through fixed-claim leverage and financing mechanics despite modest per-share dilution.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DA7DE1-3E0E-405A-825F-4FB5D40A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3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A4A"/>
                </a:solidFill>
              </a:defRPr>
            </a:pPr>
            <a:r>
              <a:rPr sz="1350" b="1">
                <a:solidFill>
                  <a:srgbClr val="9B4A4A"/>
                </a:solidFill>
              </a:rPr>
              <a:t>MARA has the weakest transmission: −16.6%.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B3185-D72A-47EC-AD04-1BDE88A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1AF126-B481-497B-93DE-EA10ABB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76150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096DD-E7B2-40AB-BD7E-FB23458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7982E-08AD-42FA-827D-E27DDEB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Three winners, three different investment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D2820-CDA3-4847-9B0B-3F38D73D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6AE2-5173-4C32-ABD5-53E82DA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DF77A-635B-47F8-B879-56B9F6D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MSTR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0587D-3C40-4506-9A3E-ADB450ED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BEST OVERALL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03C92-7B0D-477B-9BE0-E8704201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128.4%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410BC-8E4F-40BE-8B9F-7B54343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Excess vs BTC: +28.4 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9C4FB-C652-486E-99C5-D324779A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Most proven capital-markets engine; highest credible probability of beating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0588C-F520-4EAA-9756-F2240202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4A4A"/>
                </a:solidFill>
              </a:defRPr>
            </a:pPr>
            <a:r>
              <a:rPr sz="1200" b="0">
                <a:solidFill>
                  <a:srgbClr val="9B4A4A"/>
                </a:solidFill>
              </a:rPr>
              <a:t>Risk: costly financing or issuance that reduces BTC/share.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E987E-7ACF-4EA0-9A1E-580EBFB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799A1-3EB8-4C67-9833-DE3602E5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43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METAPLANET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E0D1B-1C33-4404-A116-952CFDF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MIDDLE GROUND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EF087-3899-4401-A2A2-1C6FF75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124.9%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045A1-B164-49AC-B844-C7644E7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90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Excess vs BTC: +24.9 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33033-BF43-4462-B887-5E41A66A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Strong valuation/quality asymmetry with fixed-claim leverage.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91361-4BDB-4D77-818A-E159876F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4A4A"/>
                </a:solidFill>
              </a:defRPr>
            </a:pPr>
            <a:r>
              <a:rPr sz="1200" b="0">
                <a:solidFill>
                  <a:srgbClr val="9B4A4A"/>
                </a:solidFill>
              </a:rPr>
              <a:t>Risk: incomplete capital-stack bridge, warrants, FX, or NAV discount.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BD974-30F3-4C38-ACBF-B91DD256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DBE4A-3249-4CA8-93E5-6784DE66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ABTC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39D34-B49E-4D59-A7D5-17A0E18B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978"/>
                </a:solidFill>
              </a:defRPr>
            </a:pPr>
            <a:r>
              <a:rPr sz="1050" b="1">
                <a:solidFill>
                  <a:srgbClr val="5C6978"/>
                </a:solidFill>
              </a:rPr>
              <a:t>MAXIMUM CONVEXITY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92D1A-E22F-471E-A9E6-B7153A2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246.5%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14827-AB56-4E56-B3EF-FD388568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90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Excess vs BTC: +146.5 pts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5FB8D-24A2-4519-B6AA-8A2A2E3E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Treasury appreciation + mining-margin expansion + small equity denominator.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DF440-A06D-434C-9AF6-8603826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4A4A"/>
                </a:solidFill>
              </a:defRPr>
            </a:pPr>
            <a:r>
              <a:rPr sz="1200" b="0">
                <a:solidFill>
                  <a:srgbClr val="9B4A4A"/>
                </a:solidFill>
              </a:rPr>
              <a:t>Risk: $2.1B ATM, difficulty, capex, leases, and execution.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07C82-2CC7-4EFC-AB18-69DF13CD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3FCED-59D9-4150-9653-F6F9314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71454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A8AF7-D61E-45DF-98B9-0E76A49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07FB4-7BC5-4A88-8C79-A04CDC95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Positive returns are not enough—the benchmark decides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2F25-926F-45DC-AE85-6235EAF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F6B1E-0C55-4877-AE41-4D9C7B97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978"/>
                </a:solidFill>
              </a:defRPr>
            </a:pPr>
            <a:r>
              <a:rPr sz="1575" b="0">
                <a:solidFill>
                  <a:srgbClr val="5C6978"/>
                </a:solidFill>
              </a:rPr>
              <a:t>All three names rise in at least one case, yet none beats BTC after company-specific economics are applied.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0CA25-5289-4FAB-9A6E-4412EBD9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COMPANY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6C24D-E316-450F-875B-713C2B18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9CF22-E9F9-4421-8B96-3D1367FF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EXCESS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B7913-18CC-4FCA-AB48-6E17993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20744-6CAF-4C1A-A58F-9886062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B1377-8FCA-49F9-8840-E1E4F5F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43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87237-3A95-4C5B-AFA0-C9884BCC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DC251-47CB-430D-9BD7-6958329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6"/>
                </a:solidFill>
              </a:defRPr>
            </a:pPr>
            <a:r>
              <a:rPr sz="1725" b="1">
                <a:solidFill>
                  <a:srgbClr val="183B56"/>
                </a:solidFill>
              </a:rPr>
              <a:t>XXI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2A3C8-F02A-412B-8CA2-A2B8938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93.9%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A9C6E-9952-4F5E-81C1-DE690AD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A4A"/>
                </a:solidFill>
              </a:defRPr>
            </a:pPr>
            <a:r>
              <a:rPr sz="1575" b="1">
                <a:solidFill>
                  <a:srgbClr val="9B4A4A"/>
                </a:solidFill>
              </a:rPr>
              <a:t>−6.1 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A956F-9008-4733-BB0E-8199B915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0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4EFE1-1E36-4314-91FA-94A0F3D7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60B"/>
                </a:solidFill>
              </a:defRPr>
            </a:pPr>
            <a:r>
              <a:rPr sz="1350" b="1">
                <a:solidFill>
                  <a:srgbClr val="B8860B"/>
                </a:solidFill>
              </a:rPr>
              <a:t>Watchlist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2062D-BC2F-460E-8874-4466145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8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Discount closure is a rerating assumption; diluted-share mechanics reverse the earlier thesis.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25072-6E56-428F-B685-21744EC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21836-8673-4DAB-A0D8-D826123A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6"/>
                </a:solidFill>
              </a:defRPr>
            </a:pPr>
            <a:r>
              <a:rPr sz="1725" b="1">
                <a:solidFill>
                  <a:srgbClr val="183B56"/>
                </a:solidFill>
              </a:rPr>
              <a:t>CLSK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73D27-9CE5-4DCE-B83B-4C78C32C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32.9%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7A84E-AB98-4C35-ACC2-4126B09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A4A"/>
                </a:solidFill>
              </a:defRPr>
            </a:pPr>
            <a:r>
              <a:rPr sz="1575" b="1">
                <a:solidFill>
                  <a:srgbClr val="9B4A4A"/>
                </a:solidFill>
              </a:rPr>
              <a:t>−67.1 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B25ED-D9C7-49A6-B871-7483787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76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0 /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349CD-CFA3-46AA-82C7-55D52208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6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60B"/>
                </a:solidFill>
              </a:defRPr>
            </a:pPr>
            <a:r>
              <a:rPr sz="1350" b="1">
                <a:solidFill>
                  <a:srgbClr val="B8860B"/>
                </a:solidFill>
              </a:rPr>
              <a:t>Weak benchmark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EFAD4-B196-4015-AEEC-A28DA554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576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Difficulty, capex, debt, dilution, and HPC funding absorb modeled BTC upside.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188FA-7CD3-4BDE-8C9F-5E979CD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76F42-A292-4CF6-940B-4BF8358D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6"/>
                </a:solidFill>
              </a:defRPr>
            </a:pPr>
            <a:r>
              <a:rPr sz="1725" b="1">
                <a:solidFill>
                  <a:srgbClr val="183B56"/>
                </a:solidFill>
              </a:rPr>
              <a:t>MARA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AF14E-3117-4A72-8C39-A34D0D89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56.8%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A06FBF-0044-4C74-ACFF-B71A07C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A4A"/>
                </a:solidFill>
              </a:defRPr>
            </a:pPr>
            <a:r>
              <a:rPr sz="1575" b="1">
                <a:solidFill>
                  <a:srgbClr val="9B4A4A"/>
                </a:solidFill>
              </a:rPr>
              <a:t>−43.2 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2D8E6-A087-4BA8-BDD8-4548A2A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05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0 /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57C04-450B-42BA-BD2D-A3191F4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A4A"/>
                </a:solidFill>
              </a:defRPr>
            </a:pPr>
            <a:r>
              <a:rPr sz="1350" b="1">
                <a:solidFill>
                  <a:srgbClr val="9B4A4A"/>
                </a:solidFill>
              </a:rPr>
              <a:t>Reject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77187-BD71-4204-A371-80C051B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High beta, but BTC sales, financing, infrastructure spend, and falling sats/share weaken value transmission.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68137-AA15-44AD-B0ED-22CA2E5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C37BD-8C50-4748-8B16-21DE6E66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25313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3F88A-4465-4F71-8DCE-A85A66F0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978"/>
                </a:solidFill>
              </a:defRPr>
            </a:pPr>
            <a:r>
              <a:rPr sz="900" b="1">
                <a:solidFill>
                  <a:srgbClr val="5C6978"/>
                </a:solidFill>
              </a:rPr>
              <a:t>AI-AUGMENTED BITCOIN PROXY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9FE2E-5EAF-4E80-A0FB-267556B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B56"/>
                </a:solidFill>
              </a:defRPr>
            </a:pPr>
            <a:r>
              <a:rPr sz="2700" b="1">
                <a:solidFill>
                  <a:srgbClr val="183B56"/>
                </a:solidFill>
              </a:rPr>
              <a:t>Stage 5 — Decision, uncertainty, and demonstrated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A8E4-5D9A-4040-A5F3-ADA45ED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F26FC-2992-45EB-9369-BDDA0AE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3DC18-17F6-4C13-B59D-7208676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56"/>
                </a:solidFill>
              </a:defRPr>
            </a:pPr>
            <a:r>
              <a:rPr sz="2550" b="1">
                <a:solidFill>
                  <a:srgbClr val="183B56"/>
                </a:solidFill>
              </a:rPr>
              <a:t>Choose the proxy opportunity selectively.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5221-C4EB-417A-B726-46210FE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MSTR = primary proxy  •  Metaplanet = risk-adjusted alternative  •  ABTC = aggressive convexity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100C0-51E8-484D-A4FD-BCC6A00C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BEFC6-5B18-4646-862C-6BCC07F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WHAT THIS PROJECT DEMONSTRATES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0FE2A-E417-43BC-85B9-FD54B3C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• Decision framing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5ED90-CC2A-43E8-A056-73B9BE5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• KPI and metric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28DB9-6BC3-4E59-B153-54D3CA1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• Research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1802F-37D6-4BE1-B16C-038F8744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• Data normalization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B8E68-4661-401A-BF40-CA30FFE2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• Financial modeling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5E87F-2F17-47CA-9665-D28CBD03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57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• Reproducible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28E2-8F27-4DA5-9AD0-7BA7871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• Risk-aware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A5835-6551-4EA3-B3D0-496A781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• Executive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486B7-7F7F-4EB4-8AC6-EBF444E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8ACA6-28D7-42F7-A23E-8D42AF3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B56"/>
                </a:solidFill>
              </a:defRPr>
            </a:pPr>
            <a:r>
              <a:rPr sz="1425" b="1">
                <a:solidFill>
                  <a:srgbClr val="183B56"/>
                </a:solidFill>
              </a:rPr>
              <a:t>AI accelerated the workflow; judgment, assumptions, validation, and accountability remained explicit.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C12E5-72F6-4819-B4D4-89F74BC3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Portfolio case study  •  24-month scenario model  •  Not investment advice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01726-93AD-4E66-B969-9B65E56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978"/>
                </a:solidFill>
              </a:defRPr>
            </a:pPr>
            <a:r>
              <a:rPr sz="825" b="0">
                <a:solidFill>
                  <a:srgbClr val="5C69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3140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2026-08-27T04:59:19.6130000Z</dcterms:created>
  <dcterms:modified xsi:type="dcterms:W3CDTF">2026-08-27T04:59:19.6130000Z</dcterms:modified>
</coreProperties>
</file>